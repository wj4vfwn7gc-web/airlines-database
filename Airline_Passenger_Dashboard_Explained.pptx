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Illustrative distribution by customer type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Neutral or Dissatisfied</c:v>
                </c:pt>
              </c:strCache>
            </c:strRef>
          </c:tx>
          <c:spPr>
            <a:solidFill>
              <a:srgbClr val="184E7D"/>
            </a:solidFill>
          </c:spPr>
          <c:cat>
            <c:strRef>
              <c:f>Sheet1!$A$2:$A$3</c:f>
              <c:strCache>
                <c:ptCount val="2"/>
                <c:pt idx="0">
                  <c:v>First-time</c:v>
                </c:pt>
                <c:pt idx="1">
                  <c:v>Returning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15000</c:v>
                </c:pt>
                <c:pt idx="1">
                  <c:v>1600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Satisfied</c:v>
                </c:pt>
              </c:strCache>
            </c:strRef>
          </c:tx>
          <c:spPr>
            <a:solidFill>
              <a:srgbClr val="26B1A4"/>
            </a:solidFill>
          </c:spPr>
          <c:cat>
            <c:strRef>
              <c:f>Sheet1!$A$2:$A$3</c:f>
              <c:strCache>
                <c:ptCount val="2"/>
                <c:pt idx="0">
                  <c:v>First-time</c:v>
                </c:pt>
                <c:pt idx="1">
                  <c:v>Returning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6500</c:v>
                </c:pt>
                <c:pt idx="1">
                  <c:v>2900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Count of IDs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Passenger records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Average arrival delay by class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arrival delay</c:v>
                </c:pt>
              </c:strCache>
            </c:strRef>
          </c:tx>
          <c:spPr>
            <a:solidFill>
              <a:srgbClr val="184E7D"/>
            </a:solidFill>
          </c:spPr>
          <c:cat>
            <c:strRef>
              <c:f>Sheet1!$A$2:$A$4</c:f>
              <c:strCache>
                <c:ptCount val="3"/>
                <c:pt idx="0">
                  <c:v>Economy Plus</c:v>
                </c:pt>
                <c:pt idx="1">
                  <c:v>Economy</c:v>
                </c:pt>
                <c:pt idx="2">
                  <c:v>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15.8</c:v>
                </c:pt>
                <c:pt idx="1">
                  <c:v>16.6</c:v>
                </c:pt>
                <c:pt idx="2">
                  <c:v>12.7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Class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Average delay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500"/>
            </a:pPr>
            <a:r>
              <a:t>Count of IDs by satisfaction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Passenger IDs</c:v>
                </c:pt>
              </c:strCache>
            </c:strRef>
          </c:tx>
          <c:dPt>
            <c:idx val="0"/>
            <c:spPr>
              <a:solidFill>
                <a:srgbClr val="184E7D"/>
              </a:solidFill>
            </c:spPr>
          </c:dPt>
          <c:dPt>
            <c:idx val="1"/>
            <c:spPr>
              <a:solidFill>
                <a:srgbClr val="26B1A4"/>
              </a:solidFill>
            </c:spPr>
          </c:dPt>
          <c:cat>
            <c:strRef>
              <c:f>Sheet1!$A$2:$A$3</c:f>
              <c:strCache>
                <c:ptCount val="2"/>
                <c:pt idx="0">
                  <c:v>Neutral or Dissatisfied</c:v>
                </c:pt>
                <c:pt idx="1">
                  <c:v>Satisfied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18080</c:v>
                </c:pt>
                <c:pt idx="1">
                  <c:v>5700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Passenger count by distance bin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Neutral or Dissatisfied</c:v>
                </c:pt>
              </c:strCache>
            </c:strRef>
          </c:tx>
          <c:spPr>
            <a:solidFill>
              <a:srgbClr val="184E7D"/>
            </a:solidFill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250</c:v>
                </c:pt>
                <c:pt idx="2">
                  <c:v>500</c:v>
                </c:pt>
                <c:pt idx="3">
                  <c:v>750</c:v>
                </c:pt>
                <c:pt idx="4">
                  <c:v>1000</c:v>
                </c:pt>
                <c:pt idx="5">
                  <c:v>1250</c:v>
                </c:pt>
                <c:pt idx="6">
                  <c:v>1500</c:v>
                </c:pt>
                <c:pt idx="7">
                  <c:v>2000</c:v>
                </c:pt>
                <c:pt idx="8">
                  <c:v>2500</c:v>
                </c:pt>
                <c:pt idx="9">
                  <c:v>3000</c:v>
                </c:pt>
                <c:pt idx="10">
                  <c:v>4000</c:v>
                </c:pt>
                <c:pt idx="11">
                  <c:v>4500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700</c:v>
                </c:pt>
                <c:pt idx="2">
                  <c:v>1100</c:v>
                </c:pt>
                <c:pt idx="3">
                  <c:v>800</c:v>
                </c:pt>
                <c:pt idx="4">
                  <c:v>650</c:v>
                </c:pt>
                <c:pt idx="5">
                  <c:v>500</c:v>
                </c:pt>
                <c:pt idx="6">
                  <c:v>300</c:v>
                </c:pt>
                <c:pt idx="7">
                  <c:v>150</c:v>
                </c:pt>
                <c:pt idx="8">
                  <c:v>100</c:v>
                </c:pt>
                <c:pt idx="9">
                  <c:v>80</c:v>
                </c:pt>
                <c:pt idx="10">
                  <c:v>70</c:v>
                </c:pt>
                <c:pt idx="11">
                  <c:v>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Satisfied</c:v>
                </c:pt>
              </c:strCache>
            </c:strRef>
          </c:tx>
          <c:spPr>
            <a:solidFill>
              <a:srgbClr val="26B1A4"/>
            </a:solidFill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250</c:v>
                </c:pt>
                <c:pt idx="2">
                  <c:v>500</c:v>
                </c:pt>
                <c:pt idx="3">
                  <c:v>750</c:v>
                </c:pt>
                <c:pt idx="4">
                  <c:v>1000</c:v>
                </c:pt>
                <c:pt idx="5">
                  <c:v>1250</c:v>
                </c:pt>
                <c:pt idx="6">
                  <c:v>1500</c:v>
                </c:pt>
                <c:pt idx="7">
                  <c:v>2000</c:v>
                </c:pt>
                <c:pt idx="8">
                  <c:v>2500</c:v>
                </c:pt>
                <c:pt idx="9">
                  <c:v>3000</c:v>
                </c:pt>
                <c:pt idx="10">
                  <c:v>4000</c:v>
                </c:pt>
                <c:pt idx="11">
                  <c:v>4500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40</c:v>
                </c:pt>
                <c:pt idx="1">
                  <c:v>180</c:v>
                </c:pt>
                <c:pt idx="2">
                  <c:v>320</c:v>
                </c:pt>
                <c:pt idx="3">
                  <c:v>250</c:v>
                </c:pt>
                <c:pt idx="4">
                  <c:v>210</c:v>
                </c:pt>
                <c:pt idx="5">
                  <c:v>170</c:v>
                </c:pt>
                <c:pt idx="6">
                  <c:v>100</c:v>
                </c:pt>
                <c:pt idx="7">
                  <c:v>70</c:v>
                </c:pt>
                <c:pt idx="8">
                  <c:v>55</c:v>
                </c:pt>
                <c:pt idx="9">
                  <c:v>45</c:v>
                </c:pt>
                <c:pt idx="10">
                  <c:v>40</c:v>
                </c:pt>
                <c:pt idx="11">
                  <c:v>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Flight distance (bins)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Count of IDs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Count of IDs by distance range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Neutral or Dissatisfied</c:v>
                </c:pt>
              </c:strCache>
            </c:strRef>
          </c:tx>
          <c:spPr>
            <a:solidFill>
              <a:srgbClr val="184E7D"/>
            </a:solidFill>
          </c:spPr>
          <c:cat>
            <c:strRef>
              <c:f>Sheet1!$A$2:$A$11</c:f>
              <c:strCache>
                <c:ptCount val="10"/>
                <c:pt idx="0">
                  <c:v>0–250</c:v>
                </c:pt>
                <c:pt idx="1">
                  <c:v>251–500</c:v>
                </c:pt>
                <c:pt idx="2">
                  <c:v>501–750</c:v>
                </c:pt>
                <c:pt idx="3">
                  <c:v>751–1000</c:v>
                </c:pt>
                <c:pt idx="4">
                  <c:v>1001–1250</c:v>
                </c:pt>
                <c:pt idx="5">
                  <c:v>1251–1500</c:v>
                </c:pt>
                <c:pt idx="6">
                  <c:v>1501–2000</c:v>
                </c:pt>
                <c:pt idx="7">
                  <c:v>2001–3000</c:v>
                </c:pt>
                <c:pt idx="8">
                  <c:v>3001–4000</c:v>
                </c:pt>
                <c:pt idx="9">
                  <c:v>4001–4500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90</c:v>
                </c:pt>
                <c:pt idx="1">
                  <c:v>150</c:v>
                </c:pt>
                <c:pt idx="2">
                  <c:v>95</c:v>
                </c:pt>
                <c:pt idx="3">
                  <c:v>70</c:v>
                </c:pt>
                <c:pt idx="4">
                  <c:v>50</c:v>
                </c:pt>
                <c:pt idx="5">
                  <c:v>25</c:v>
                </c:pt>
                <c:pt idx="6">
                  <c:v>15</c:v>
                </c:pt>
                <c:pt idx="7">
                  <c:v>10</c:v>
                </c:pt>
                <c:pt idx="8">
                  <c:v>5</c:v>
                </c:pt>
                <c:pt idx="9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Satisfied</c:v>
                </c:pt>
              </c:strCache>
            </c:strRef>
          </c:tx>
          <c:spPr>
            <a:solidFill>
              <a:srgbClr val="26B1A4"/>
            </a:solidFill>
          </c:spPr>
          <c:cat>
            <c:strRef>
              <c:f>Sheet1!$A$2:$A$11</c:f>
              <c:strCache>
                <c:ptCount val="10"/>
                <c:pt idx="0">
                  <c:v>0–250</c:v>
                </c:pt>
                <c:pt idx="1">
                  <c:v>251–500</c:v>
                </c:pt>
                <c:pt idx="2">
                  <c:v>501–750</c:v>
                </c:pt>
                <c:pt idx="3">
                  <c:v>751–1000</c:v>
                </c:pt>
                <c:pt idx="4">
                  <c:v>1001–1250</c:v>
                </c:pt>
                <c:pt idx="5">
                  <c:v>1251–1500</c:v>
                </c:pt>
                <c:pt idx="6">
                  <c:v>1501–2000</c:v>
                </c:pt>
                <c:pt idx="7">
                  <c:v>2001–3000</c:v>
                </c:pt>
                <c:pt idx="8">
                  <c:v>3001–4000</c:v>
                </c:pt>
                <c:pt idx="9">
                  <c:v>4001–4500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55</c:v>
                </c:pt>
                <c:pt idx="1">
                  <c:v>80</c:v>
                </c:pt>
                <c:pt idx="2">
                  <c:v>60</c:v>
                </c:pt>
                <c:pt idx="3">
                  <c:v>45</c:v>
                </c:pt>
                <c:pt idx="4">
                  <c:v>25</c:v>
                </c:pt>
                <c:pt idx="5">
                  <c:v>12</c:v>
                </c:pt>
                <c:pt idx="6">
                  <c:v>8</c:v>
                </c:pt>
                <c:pt idx="7">
                  <c:v>6</c:v>
                </c:pt>
                <c:pt idx="8">
                  <c:v>4</c:v>
                </c:pt>
                <c:pt idx="9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Flight distance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Count of IDs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5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18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27DDC0B-9329-4D16-89A2-1E29E7B57B1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6583680" cy="32704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234440"/>
            <a:ext cx="438912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AIRLINE PASSENGER</a:t>
            </a:r>
            <a:br/>
            <a: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2880360"/>
            <a:ext cx="41148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A simple, visual explanation of the KPIs, filters and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977639"/>
            <a:ext cx="416052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DCF5F4"/>
                </a:solidFill>
                <a:latin typeface="Aptos"/>
              </a:defRPr>
            </a:pPr>
            <a:r>
              <a:t>What the dashboard tells us • How to read each chart • 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608076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Prepared from the dashboard image provided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1. Dashboard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The dashboard summarises passenger profile, satisfaction, distance and arrival delays.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6" name="Picture 5" descr="327DDC0B-9329-4D16-89A2-1E29E7B57B1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92240" cy="32249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463040"/>
            <a:ext cx="4251960" cy="10515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591056"/>
            <a:ext cx="392277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Main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965960"/>
            <a:ext cx="3922776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How do passenger type, class and flight distance relate to satisfaction and delays?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97480"/>
            <a:ext cx="4251960" cy="10515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2825496"/>
            <a:ext cx="392277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What is included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3200400"/>
            <a:ext cx="3922776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Four headline KPIs, two filters and four visual analyses.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931920"/>
            <a:ext cx="4251960" cy="10515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059935"/>
            <a:ext cx="392277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How to use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4434840"/>
            <a:ext cx="3922776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Select a gender or customer type to filter the dashboard, then compare the charts.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72200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F7382"/>
                </a:solidFill>
                <a:latin typeface="Aptos"/>
              </a:defRPr>
            </a:pPr>
            <a:r>
              <a:t>Note: values and patterns are read from the supplied screenshot; raw data was not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2. Headline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KPI cards give a quick summary before you explore the detailed charts.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03520" cy="16002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1828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26B1A4"/>
                </a:solidFill>
                <a:latin typeface="Aptos"/>
              </a:defRPr>
            </a:pPr>
            <a:r>
              <a:t>30.35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09928"/>
            <a:ext cx="3154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Average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480060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1D354D"/>
                </a:solidFill>
                <a:latin typeface="Aptos"/>
              </a:defRPr>
            </a:pPr>
            <a:r>
              <a:t>The average passenger age shown by the current filter selection.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5303520" cy="16002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73351"/>
            <a:ext cx="1828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26B1A4"/>
                </a:solidFill>
                <a:latin typeface="Aptos"/>
              </a:defRPr>
            </a:pPr>
            <a:r>
              <a:t>23.78K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709928"/>
            <a:ext cx="3154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Count of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13432"/>
            <a:ext cx="480060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1D354D"/>
                </a:solidFill>
                <a:latin typeface="Aptos"/>
              </a:defRPr>
            </a:pPr>
            <a:r>
              <a:t>Approximately 23,780 passenger records/IDs are included.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303520" cy="16002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1828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0C355B"/>
                </a:solidFill>
                <a:latin typeface="Aptos"/>
              </a:defRPr>
            </a:pPr>
            <a:r>
              <a:t>714.12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67328"/>
            <a:ext cx="3154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Average flight 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70832"/>
            <a:ext cx="480060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1D354D"/>
                </a:solidFill>
                <a:latin typeface="Aptos"/>
              </a:defRPr>
            </a:pPr>
            <a:r>
              <a:t>The mean distance value in the dataset; the unit is not shown in the screenshot.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566160"/>
            <a:ext cx="5303520" cy="16002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730752"/>
            <a:ext cx="1828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0C355B"/>
                </a:solidFill>
                <a:latin typeface="Aptos"/>
              </a:defRPr>
            </a:pPr>
            <a:r>
              <a:t>15.48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767328"/>
            <a:ext cx="3154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Average arrival 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370832"/>
            <a:ext cx="480060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1D354D"/>
                </a:solidFill>
                <a:latin typeface="Aptos"/>
              </a:defRPr>
            </a:pPr>
            <a:r>
              <a:t>Average arrival delay value; likely in minutes, but confirm the source dataset’s unit.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1">
                <a:solidFill>
                  <a:srgbClr val="ED9F4F"/>
                </a:solidFill>
                <a:latin typeface="Aptos"/>
              </a:defRPr>
            </a:pPr>
            <a:r>
              <a:t>Important: a KPI is a summary, not an explanation of why a value is high or 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3. Filters and passenger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Filters help compare different groups without changing the underlying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15087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36776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Gender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11680"/>
            <a:ext cx="3099816" cy="9143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Female / Male. Select one or both to see whether passenger metrics differ by gender.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5087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36776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Customer type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11680"/>
            <a:ext cx="3099816" cy="9143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First-time / Returning. This separates new passengers from repeat passengers.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429000" cy="15087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636776"/>
            <a:ext cx="30998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Class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11680"/>
            <a:ext cx="3099816" cy="9143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Economy Plus, Economy and Business appear in the arrival-delay chart.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3657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000" b="1">
                <a:solidFill>
                  <a:srgbClr val="0C355B"/>
                </a:solidFill>
                <a:latin typeface="Aptos"/>
              </a:defRPr>
            </a:pPr>
            <a:r>
              <a:t>How to read a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65836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D354D"/>
                </a:solidFill>
                <a:latin typeface="Aptos"/>
              </a:defRPr>
            </a:pPr>
            <a:r>
              <a:t>• Choose a filter value (for example, Female).</a:t>
            </a:r>
          </a:p>
          <a:p>
            <a:pPr>
              <a:spcAft>
                <a:spcPts val="800"/>
              </a:spcAft>
              <a:defRPr sz="1600">
                <a:solidFill>
                  <a:srgbClr val="1D354D"/>
                </a:solidFill>
                <a:latin typeface="Aptos"/>
              </a:defRPr>
            </a:pPr>
            <a:r>
              <a:t>• All connected charts should update to reflect the selection.</a:t>
            </a:r>
          </a:p>
          <a:p>
            <a:pPr>
              <a:spcAft>
                <a:spcPts val="800"/>
              </a:spcAft>
              <a:defRPr sz="1600">
                <a:solidFill>
                  <a:srgbClr val="1D354D"/>
                </a:solidFill>
                <a:latin typeface="Aptos"/>
              </a:defRPr>
            </a:pPr>
            <a:r>
              <a:t>• Compare the same KPI or chart before and after filtering.</a:t>
            </a:r>
          </a:p>
          <a:p>
            <a:pPr>
              <a:spcAft>
                <a:spcPts val="800"/>
              </a:spcAft>
              <a:defRPr sz="1600">
                <a:solidFill>
                  <a:srgbClr val="1D354D"/>
                </a:solidFill>
                <a:latin typeface="Aptos"/>
              </a:defRPr>
            </a:pPr>
            <a:r>
              <a:t>• Clear the filter or select another group to return to a broader 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474720"/>
            <a:ext cx="3703320" cy="1737360"/>
          </a:xfrm>
          <a:prstGeom prst="roundRect">
            <a:avLst/>
          </a:prstGeom>
          <a:solidFill>
            <a:srgbClr val="F2FAF9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3602736"/>
            <a:ext cx="33741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3977639"/>
            <a:ext cx="3374136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Overall averages can hide differences between passenger groups. Filters let you inspect those differences.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4. Customer type vs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A stacked horizontal bar chart compares satisfied passengers with neutral or dissatisfied passengers.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64922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600200"/>
            <a:ext cx="4023360" cy="11430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728216"/>
            <a:ext cx="369417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2103120"/>
            <a:ext cx="3694176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Each bar represents a customer type. Segment length indicates the count in each satisfaction group.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971800"/>
            <a:ext cx="4023360" cy="132588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2" y="3099816"/>
            <a:ext cx="369417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Reading the 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3474720"/>
            <a:ext cx="3694176" cy="731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First-time passengers account for most records. The dark segment is larger than the satisfied segment for first-time passengers.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526280"/>
            <a:ext cx="4023360" cy="11430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54296"/>
            <a:ext cx="369417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Use with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5029200"/>
            <a:ext cx="3694176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The chart’s exact counts should be verified from the source data; the chart recreated here is illustrative.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Legend: dark blue = Neutral or Dissatisfied • teal = Satisfied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5. Average arrival delay by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A column chart compares the average delay across three travel classes.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417320"/>
          <a:ext cx="6492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554480"/>
            <a:ext cx="3977639" cy="11430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682495"/>
            <a:ext cx="36484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Economy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2057400"/>
            <a:ext cx="3648456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The screenshot shows the highest average delay, at roughly 16–17.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880360"/>
            <a:ext cx="3977639" cy="11430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2" y="3008376"/>
            <a:ext cx="36484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Economy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3383280"/>
            <a:ext cx="3648456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Its average delay is close to Economy, around 15–16.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206240"/>
            <a:ext cx="3977639" cy="11430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334255"/>
            <a:ext cx="36484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4709159"/>
            <a:ext cx="3648456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Business has the lowest average delay in the screenshot, around 13.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80760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F7382"/>
                </a:solidFill>
                <a:latin typeface="Aptos"/>
              </a:defRPr>
            </a:pPr>
            <a:r>
              <a:t>These are approximate visual readings, not exact values. Delay units should be confirmed from the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6. Satisfaction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The doughnut chart shows the share of IDs in each satisfaction group.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463040"/>
          <a:ext cx="53035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09360" y="1600200"/>
            <a:ext cx="5074920" cy="11430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728216"/>
            <a:ext cx="47457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Neutral or dissatisfied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103120"/>
            <a:ext cx="4745736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About 18.08K IDs, or 76.03% in the screenshot.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71800"/>
            <a:ext cx="5074920" cy="11430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3099816"/>
            <a:ext cx="47457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Satisfied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474720"/>
            <a:ext cx="4745736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About 5.7K IDs, or 23.97% in the screenshot.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43400"/>
            <a:ext cx="5074920" cy="123444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471416"/>
            <a:ext cx="47457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846320"/>
            <a:ext cx="4745736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The displayed sample has a much larger neutral/dissatisfied group. This is a signal to investigate, not proof of the cause.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80760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F7382"/>
                </a:solidFill>
                <a:latin typeface="Aptos"/>
              </a:defRPr>
            </a:pPr>
            <a:r>
              <a:t>The percentages sum to 100% after rounding.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7. Flight-distance bins and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The line chart compares passenger counts across distance bins for the two satisfaction groups.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417320"/>
          <a:ext cx="73152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600200"/>
            <a:ext cx="3246120" cy="123444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728216"/>
            <a:ext cx="29169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Main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03120"/>
            <a:ext cx="2916936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Counts peak at shorter-to-mid distances, then decline as distance increases.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3191256"/>
            <a:ext cx="29169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Compare the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3566160"/>
            <a:ext cx="2916936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The neutral/dissatisfied series is above the satisfied series across most bins.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526280"/>
            <a:ext cx="3246120" cy="10515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4654296"/>
            <a:ext cx="29169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5029200"/>
            <a:ext cx="2916936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The recreated values are illustrative because the raw dataset was not supplied.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80760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F7382"/>
                </a:solidFill>
                <a:latin typeface="Aptos"/>
              </a:defRPr>
            </a:pPr>
            <a:r>
              <a:t>A bin groups nearby distance values together so the overall distribution is easier to see.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8. Distance distribution by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The final chart compares counts within distance ranges using clustered columns.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417320"/>
          <a:ext cx="73152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600200"/>
            <a:ext cx="3246120" cy="123444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728216"/>
            <a:ext cx="29169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What to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103120"/>
            <a:ext cx="2916936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The largest bars are concentrated in shorter distance ranges.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3191256"/>
            <a:ext cx="29169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Why use this chart?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3566160"/>
            <a:ext cx="2916936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It makes spikes and differences between satisfaction groups easier to compare.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526280"/>
            <a:ext cx="3246120" cy="10515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4654296"/>
            <a:ext cx="291693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Avoid overclaiming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5029200"/>
            <a:ext cx="2916936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A high count does not automatically mean a higher dissatisfaction rate; compare percentages within each bin.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80760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F7382"/>
                </a:solidFill>
                <a:latin typeface="Aptos"/>
              </a:defRPr>
            </a:pPr>
            <a:r>
              <a:t>Use counts to understand volume; use rates/percentages to compare satisfaction fairly.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9. Key insights and 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Separate what the screenshot shows from what the business should investigate.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141732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49286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Insights visible in the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4928616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• 23.78K IDs are represented.</a:t>
            </a:r>
            <a:br/>
            <a:r>
              <a:t>• Average age is about 30.35.</a:t>
            </a:r>
            <a:br/>
            <a:r>
              <a:t>• Satisfaction split is roughly 24% satisfied vs 76% neutral/dissatisfied.</a:t>
            </a:r>
            <a:br/>
            <a:r>
              <a:t>• Business class has the lowest displayed average arrival delay.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141732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45336"/>
            <a:ext cx="49286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Questions worth investigating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20240"/>
            <a:ext cx="4928616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• What drives the large neutral/dissatisfied share?</a:t>
            </a:r>
            <a:br/>
            <a:r>
              <a:t>• Are delays linked to route, airport, time of day or airline?</a:t>
            </a:r>
            <a:br/>
            <a:r>
              <a:t>• Do first-time and returning passengers rate experiences differently?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54680"/>
            <a:ext cx="5257800" cy="141732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282696"/>
            <a:ext cx="49286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Recommended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657600"/>
            <a:ext cx="4928616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• Compare satisfaction rates, not only counts.</a:t>
            </a:r>
            <a:br/>
            <a:r>
              <a:t>• Break down delay by route, departure delay and flight distance.</a:t>
            </a:r>
            <a:br/>
            <a:r>
              <a:t>• Check whether filters affect all charts as expected.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54680"/>
            <a:ext cx="5257800" cy="141732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282696"/>
            <a:ext cx="49286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657600"/>
            <a:ext cx="4928616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• Review the largest sources of delay.</a:t>
            </a:r>
            <a:br/>
            <a:r>
              <a:t>• Gather feedback from dissatisfied passengers.</a:t>
            </a:r>
            <a:br/>
            <a:r>
              <a:t>• Test service improvements, then monitor satisfaction over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77840"/>
            <a:ext cx="108813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1">
                <a:solidFill>
                  <a:srgbClr val="ED9F4F"/>
                </a:solidFill>
                <a:latin typeface="Aptos"/>
              </a:defRPr>
            </a:pPr>
            <a:r>
              <a:t>Do not infer causation from these charts alone. Validate patterns against the full dataset before making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10. Simple presentation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Use this short explanation if you need to present the dashboard in class.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835640" cy="10515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105064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Opening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10506456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0">
                <a:solidFill>
                  <a:srgbClr val="1D354D"/>
                </a:solidFill>
                <a:latin typeface="Aptos"/>
              </a:defRPr>
            </a:pPr>
            <a:r>
              <a:t>“This dashboard gives an overview of airline passengers. It summarises passenger age, flight distance, arrival delay and satisfaction.”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97480"/>
            <a:ext cx="10835640" cy="10515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825496"/>
            <a:ext cx="105064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Explain the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00400"/>
            <a:ext cx="10506456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0">
                <a:solidFill>
                  <a:srgbClr val="1D354D"/>
                </a:solidFill>
                <a:latin typeface="Aptos"/>
              </a:defRPr>
            </a:pPr>
            <a:r>
              <a:t>“The filters let us compare gender and customer type. The bar charts compare satisfaction groups and delays by class, while the doughnut chart shows the overall satisfaction split.”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10835640" cy="105156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105655"/>
            <a:ext cx="105064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480559"/>
            <a:ext cx="10506456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0">
                <a:solidFill>
                  <a:srgbClr val="1D354D"/>
                </a:solidFill>
                <a:latin typeface="Aptos"/>
              </a:defRPr>
            </a:pPr>
            <a:r>
              <a:t>“In the displayed data, neutral or dissatisfied passengers form the larger group, and Business class has the lowest average arrival delay. We should investigate the reasons using the complete dataset.”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7899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Remember: the exact counts in the recreated charts are illustrative; use the original report or raw data for precise figures.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0C355B"/>
                </a:solidFill>
                <a:latin typeface="Aptos"/>
              </a:defRPr>
            </a:pPr>
            <a:r>
              <a:t>11. Quick glossary and data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F7382"/>
                </a:solidFill>
                <a:latin typeface="Aptos"/>
              </a:defRPr>
            </a:pPr>
            <a:r>
              <a:t>A few terms make the dashboard easier to explain accurately.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51560" cy="50292"/>
          </a:xfrm>
          <a:prstGeom prst="rect">
            <a:avLst/>
          </a:prstGeom>
          <a:solidFill>
            <a:srgbClr val="26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F73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20440" cy="109728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31912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3191256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Key Performance Indicator: a summary number used to monitor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09728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45336"/>
            <a:ext cx="31912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ID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20240"/>
            <a:ext cx="3191256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Number of records/IDs counted; confirm whether each ID is one unique passenger.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520440" cy="109728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545336"/>
            <a:ext cx="31912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920240"/>
            <a:ext cx="3191256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The sum of values divided by the number of observations.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88920"/>
            <a:ext cx="3520440" cy="109728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916936"/>
            <a:ext cx="31912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Stacked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291839"/>
            <a:ext cx="3191256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Shows total volume and how it is split between groups.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788920"/>
            <a:ext cx="3520440" cy="109728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2916936"/>
            <a:ext cx="31912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Doughnut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291839"/>
            <a:ext cx="3191256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Shows the relative share of each category as parts of a whole.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2788920"/>
            <a:ext cx="3520440" cy="109728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2916936"/>
            <a:ext cx="31912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Bins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291839"/>
            <a:ext cx="3191256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Intervals that group continuous values, such as flight distance.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43400"/>
            <a:ext cx="10835640" cy="1143000"/>
          </a:xfrm>
          <a:prstGeom prst="roundRect">
            <a:avLst/>
          </a:prstGeom>
          <a:solidFill>
            <a:srgbClr val="EBF8F7"/>
          </a:solidFill>
          <a:ln>
            <a:solidFill>
              <a:srgbClr val="D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471416"/>
            <a:ext cx="1050645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0C355B"/>
                </a:solidFill>
                <a:latin typeface="Aptos"/>
              </a:defRPr>
            </a:pPr>
            <a:r>
              <a:t>Data 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846320"/>
            <a:ext cx="10506456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1D354D"/>
                </a:solidFill>
                <a:latin typeface="Aptos"/>
              </a:defRPr>
            </a:pPr>
            <a:r>
              <a:t>Only a screenshot was provided, not the underlying passenger data. Therefore the KPI descriptions and visual interpretations are grounded in the image, but charts rebuilt in this presentation use approximate/illustrative values and must not be treated as exact reproductions.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80760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0">
                <a:solidFill>
                  <a:srgbClr val="5F7382"/>
                </a:solidFill>
                <a:latin typeface="Aptos"/>
              </a:defRPr>
            </a:pPr>
            <a: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